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58" r:id="rId4"/>
    <p:sldId id="257" r:id="rId5"/>
    <p:sldId id="263" r:id="rId6"/>
    <p:sldId id="264" r:id="rId7"/>
    <p:sldId id="266" r:id="rId8"/>
    <p:sldId id="269" r:id="rId9"/>
    <p:sldId id="265" r:id="rId10"/>
    <p:sldId id="262" r:id="rId11"/>
    <p:sldId id="261" r:id="rId12"/>
    <p:sldId id="259"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39CC33-F67B-433C-8785-A0794468ECD0}">
          <p14:sldIdLst>
            <p14:sldId id="256"/>
            <p14:sldId id="260"/>
            <p14:sldId id="258"/>
            <p14:sldId id="257"/>
            <p14:sldId id="263"/>
            <p14:sldId id="264"/>
            <p14:sldId id="266"/>
            <p14:sldId id="269"/>
            <p14:sldId id="265"/>
            <p14:sldId id="262"/>
            <p14:sldId id="261"/>
            <p14:sldId id="259"/>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5D57C4-CC60-4A6C-8E01-D03B1B7D84C7}"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CAB37-4CF2-4319-B495-1D662E7C67B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450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D57C4-CC60-4A6C-8E01-D03B1B7D84C7}"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3467460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D57C4-CC60-4A6C-8E01-D03B1B7D84C7}"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CAB37-4CF2-4319-B495-1D662E7C67B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2878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5D57C4-CC60-4A6C-8E01-D03B1B7D84C7}"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2698011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D57C4-CC60-4A6C-8E01-D03B1B7D84C7}"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2882433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D57C4-CC60-4A6C-8E01-D03B1B7D84C7}"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2075874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5D57C4-CC60-4A6C-8E01-D03B1B7D84C7}" type="datetimeFigureOut">
              <a:rPr lang="en-US" smtClean="0"/>
              <a:t>10/17/2023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3340935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5D57C4-CC60-4A6C-8E01-D03B1B7D84C7}" type="datetimeFigureOut">
              <a:rPr lang="en-US" smtClean="0"/>
              <a:t>10/17/2023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7CAB37-4CF2-4319-B495-1D662E7C67BF}" type="slidenum">
              <a:rPr lang="en-US" smtClean="0"/>
              <a:t>‹#›</a:t>
            </a:fld>
            <a:endParaRPr lang="en-US"/>
          </a:p>
        </p:txBody>
      </p:sp>
    </p:spTree>
    <p:extLst>
      <p:ext uri="{BB962C8B-B14F-4D97-AF65-F5344CB8AC3E}">
        <p14:creationId xmlns:p14="http://schemas.microsoft.com/office/powerpoint/2010/main" val="2383199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D57C4-CC60-4A6C-8E01-D03B1B7D84C7}"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2039641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D57C4-CC60-4A6C-8E01-D03B1B7D84C7}"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619167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D57C4-CC60-4A6C-8E01-D03B1B7D84C7}"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7CAB37-4CF2-4319-B495-1D662E7C67BF}" type="slidenum">
              <a:rPr lang="en-US" smtClean="0"/>
              <a:t>‹#›</a:t>
            </a:fld>
            <a:endParaRPr lang="en-US"/>
          </a:p>
        </p:txBody>
      </p:sp>
    </p:spTree>
    <p:extLst>
      <p:ext uri="{BB962C8B-B14F-4D97-AF65-F5344CB8AC3E}">
        <p14:creationId xmlns:p14="http://schemas.microsoft.com/office/powerpoint/2010/main" val="134110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5D57C4-CC60-4A6C-8E01-D03B1B7D84C7}" type="datetimeFigureOut">
              <a:rPr lang="en-US" smtClean="0"/>
              <a:t>10/17/2023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77CAB37-4CF2-4319-B495-1D662E7C67B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65A08695-F0B4-0DEF-6246-EC57C38C00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286930" y="286117"/>
            <a:ext cx="1615580" cy="998307"/>
          </a:xfrm>
          <a:prstGeom prst="rect">
            <a:avLst/>
          </a:prstGeom>
        </p:spPr>
      </p:pic>
    </p:spTree>
    <p:extLst>
      <p:ext uri="{BB962C8B-B14F-4D97-AF65-F5344CB8AC3E}">
        <p14:creationId xmlns:p14="http://schemas.microsoft.com/office/powerpoint/2010/main" val="36810920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809D7-1BA6-849A-DA94-69397120EE4F}"/>
              </a:ext>
            </a:extLst>
          </p:cNvPr>
          <p:cNvSpPr>
            <a:spLocks noGrp="1"/>
          </p:cNvSpPr>
          <p:nvPr>
            <p:ph type="ctrTitle"/>
          </p:nvPr>
        </p:nvSpPr>
        <p:spPr>
          <a:xfrm>
            <a:off x="1097280" y="758951"/>
            <a:ext cx="10058400" cy="2465511"/>
          </a:xfrm>
        </p:spPr>
        <p:txBody>
          <a:bodyPr>
            <a:normAutofit/>
          </a:bodyPr>
          <a:lstStyle/>
          <a:p>
            <a:pPr algn="ctr"/>
            <a:r>
              <a:rPr lang="en-US" sz="9600" b="1" dirty="0"/>
              <a:t>Final Project</a:t>
            </a:r>
          </a:p>
        </p:txBody>
      </p:sp>
      <p:sp>
        <p:nvSpPr>
          <p:cNvPr id="3" name="Subtitle 2">
            <a:extLst>
              <a:ext uri="{FF2B5EF4-FFF2-40B4-BE49-F238E27FC236}">
                <a16:creationId xmlns:a16="http://schemas.microsoft.com/office/drawing/2014/main" id="{A600C4C8-3266-6028-040A-1FC5A86D9A68}"/>
              </a:ext>
            </a:extLst>
          </p:cNvPr>
          <p:cNvSpPr>
            <a:spLocks noGrp="1"/>
          </p:cNvSpPr>
          <p:nvPr>
            <p:ph type="subTitle" idx="1"/>
          </p:nvPr>
        </p:nvSpPr>
        <p:spPr>
          <a:xfrm>
            <a:off x="1100051" y="4455619"/>
            <a:ext cx="10058400" cy="1512043"/>
          </a:xfrm>
        </p:spPr>
        <p:txBody>
          <a:bodyPr/>
          <a:lstStyle/>
          <a:p>
            <a:r>
              <a:rPr lang="en-US" dirty="0"/>
              <a:t>g. t. h. </a:t>
            </a:r>
            <a:r>
              <a:rPr lang="en-US" dirty="0" err="1"/>
              <a:t>wickramarathne</a:t>
            </a:r>
            <a:endParaRPr lang="en-US" dirty="0"/>
          </a:p>
          <a:p>
            <a:r>
              <a:rPr lang="en-US" dirty="0"/>
              <a:t>1132</a:t>
            </a:r>
          </a:p>
          <a:p>
            <a:r>
              <a:rPr lang="en-US" dirty="0" err="1"/>
              <a:t>Dibm</a:t>
            </a:r>
            <a:r>
              <a:rPr lang="en-US" dirty="0"/>
              <a:t> - 03</a:t>
            </a:r>
          </a:p>
        </p:txBody>
      </p:sp>
    </p:spTree>
    <p:extLst>
      <p:ext uri="{BB962C8B-B14F-4D97-AF65-F5344CB8AC3E}">
        <p14:creationId xmlns:p14="http://schemas.microsoft.com/office/powerpoint/2010/main" val="1995037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4000" t="3000" r="11000" b="-1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F58C4-7FBB-939B-5807-F8E68DD61F27}"/>
              </a:ext>
            </a:extLst>
          </p:cNvPr>
          <p:cNvSpPr>
            <a:spLocks noGrp="1"/>
          </p:cNvSpPr>
          <p:nvPr>
            <p:ph type="title"/>
          </p:nvPr>
        </p:nvSpPr>
        <p:spPr>
          <a:xfrm>
            <a:off x="1097280" y="286603"/>
            <a:ext cx="10058400" cy="1318079"/>
          </a:xfrm>
        </p:spPr>
        <p:txBody>
          <a:bodyPr>
            <a:normAutofit/>
          </a:bodyPr>
          <a:lstStyle/>
          <a:p>
            <a:pPr algn="ctr"/>
            <a:r>
              <a:rPr lang="en-US" sz="7200" dirty="0">
                <a:solidFill>
                  <a:srgbClr val="0070C0"/>
                </a:solidFill>
                <a:latin typeface="+mn-lt"/>
              </a:rPr>
              <a:t> </a:t>
            </a:r>
            <a:r>
              <a:rPr lang="en-US" sz="7200" b="1" dirty="0">
                <a:solidFill>
                  <a:srgbClr val="0070C0"/>
                </a:solidFill>
                <a:latin typeface="+mn-lt"/>
              </a:rPr>
              <a:t>Sri Lanka Telecom</a:t>
            </a:r>
            <a:endParaRPr lang="en-US" sz="7200" b="1" dirty="0"/>
          </a:p>
        </p:txBody>
      </p:sp>
    </p:spTree>
    <p:extLst>
      <p:ext uri="{BB962C8B-B14F-4D97-AF65-F5344CB8AC3E}">
        <p14:creationId xmlns:p14="http://schemas.microsoft.com/office/powerpoint/2010/main" val="1881639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B915F-88CF-AD8F-C447-B8DC4CC69228}"/>
              </a:ext>
            </a:extLst>
          </p:cNvPr>
          <p:cNvSpPr>
            <a:spLocks noGrp="1"/>
          </p:cNvSpPr>
          <p:nvPr>
            <p:ph type="title"/>
          </p:nvPr>
        </p:nvSpPr>
        <p:spPr>
          <a:xfrm>
            <a:off x="1097280" y="286603"/>
            <a:ext cx="10058400" cy="1237397"/>
          </a:xfrm>
        </p:spPr>
        <p:txBody>
          <a:bodyPr>
            <a:normAutofit/>
          </a:bodyPr>
          <a:lstStyle/>
          <a:p>
            <a:pPr algn="ctr"/>
            <a:r>
              <a:rPr lang="en-US" sz="6000" b="1" dirty="0">
                <a:solidFill>
                  <a:srgbClr val="00B050"/>
                </a:solidFill>
                <a:latin typeface="+mn-lt"/>
              </a:rPr>
              <a:t>SLT - </a:t>
            </a:r>
            <a:r>
              <a:rPr lang="en-US" sz="6000" b="1" dirty="0" err="1">
                <a:solidFill>
                  <a:srgbClr val="00B050"/>
                </a:solidFill>
                <a:latin typeface="+mn-lt"/>
              </a:rPr>
              <a:t>Mobitel</a:t>
            </a:r>
            <a:endParaRPr lang="en-US" sz="6000" b="1" dirty="0">
              <a:solidFill>
                <a:srgbClr val="00B050"/>
              </a:solidFill>
              <a:latin typeface="+mn-lt"/>
            </a:endParaRPr>
          </a:p>
        </p:txBody>
      </p:sp>
      <p:pic>
        <p:nvPicPr>
          <p:cNvPr id="5" name="Content Placeholder 4">
            <a:extLst>
              <a:ext uri="{FF2B5EF4-FFF2-40B4-BE49-F238E27FC236}">
                <a16:creationId xmlns:a16="http://schemas.microsoft.com/office/drawing/2014/main" id="{10693679-27DE-DD7C-00F6-2C36E9805C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06963" y="2809875"/>
            <a:ext cx="2438400" cy="2095500"/>
          </a:xfrm>
        </p:spPr>
      </p:pic>
    </p:spTree>
    <p:extLst>
      <p:ext uri="{BB962C8B-B14F-4D97-AF65-F5344CB8AC3E}">
        <p14:creationId xmlns:p14="http://schemas.microsoft.com/office/powerpoint/2010/main" val="3434198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61CD-3AB3-C75F-9208-8320F8BABF63}"/>
              </a:ext>
            </a:extLst>
          </p:cNvPr>
          <p:cNvSpPr>
            <a:spLocks noGrp="1"/>
          </p:cNvSpPr>
          <p:nvPr>
            <p:ph type="title"/>
          </p:nvPr>
        </p:nvSpPr>
        <p:spPr>
          <a:xfrm>
            <a:off x="1097280" y="286604"/>
            <a:ext cx="10058400" cy="1227872"/>
          </a:xfrm>
        </p:spPr>
        <p:txBody>
          <a:bodyPr/>
          <a:lstStyle/>
          <a:p>
            <a:pPr algn="ctr"/>
            <a:r>
              <a:rPr lang="en-US" b="1" dirty="0">
                <a:solidFill>
                  <a:srgbClr val="0070C0"/>
                </a:solidFill>
                <a:latin typeface="+mn-lt"/>
              </a:rPr>
              <a:t>About SLT</a:t>
            </a:r>
          </a:p>
        </p:txBody>
      </p:sp>
      <p:sp>
        <p:nvSpPr>
          <p:cNvPr id="3" name="Content Placeholder 2">
            <a:extLst>
              <a:ext uri="{FF2B5EF4-FFF2-40B4-BE49-F238E27FC236}">
                <a16:creationId xmlns:a16="http://schemas.microsoft.com/office/drawing/2014/main" id="{3F28167A-DEBD-0C08-8708-51DEC9280B41}"/>
              </a:ext>
            </a:extLst>
          </p:cNvPr>
          <p:cNvSpPr>
            <a:spLocks noGrp="1"/>
          </p:cNvSpPr>
          <p:nvPr>
            <p:ph idx="1"/>
          </p:nvPr>
        </p:nvSpPr>
        <p:spPr/>
        <p:txBody>
          <a:bodyPr>
            <a:normAutofit/>
          </a:bodyPr>
          <a:lstStyle/>
          <a:p>
            <a:pPr algn="just">
              <a:buFont typeface="Arial" panose="020B0604020202020204" pitchFamily="34" charset="0"/>
              <a:buChar char="•"/>
            </a:pPr>
            <a:r>
              <a:rPr lang="en-US" sz="28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Sri Lanka Telecom (SLT) is the National Information and Communications Technology (ICT) solutions provider and the leading broadband and backbone infrastructure services provider of Sri Lanka.</a:t>
            </a:r>
          </a:p>
          <a:p>
            <a:pPr algn="just">
              <a:buFont typeface="Arial" panose="020B0604020202020204" pitchFamily="34" charset="0"/>
              <a:buChar char="•"/>
            </a:pPr>
            <a:r>
              <a:rPr lang="en-US" sz="28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Established in 1858</a:t>
            </a:r>
          </a:p>
          <a:p>
            <a:pPr algn="just">
              <a:buFont typeface="Arial" panose="020B0604020202020204" pitchFamily="34" charset="0"/>
              <a:buChar char="•"/>
            </a:pPr>
            <a:r>
              <a:rPr lang="en-US" sz="28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For over 163 years, the Company has served the Nation’s need for connectivity, operating on fixed, mobile, and other operational segments</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6964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0A98E-3156-14CF-BBDB-96D370B653E6}"/>
              </a:ext>
            </a:extLst>
          </p:cNvPr>
          <p:cNvSpPr>
            <a:spLocks noGrp="1"/>
          </p:cNvSpPr>
          <p:nvPr>
            <p:ph type="title"/>
          </p:nvPr>
        </p:nvSpPr>
        <p:spPr>
          <a:xfrm>
            <a:off x="1097280" y="286603"/>
            <a:ext cx="10058400" cy="1156715"/>
          </a:xfrm>
        </p:spPr>
        <p:txBody>
          <a:bodyPr/>
          <a:lstStyle/>
          <a:p>
            <a:r>
              <a:rPr lang="en-US" b="1" dirty="0">
                <a:solidFill>
                  <a:schemeClr val="accent1"/>
                </a:solidFill>
                <a:latin typeface="+mn-lt"/>
              </a:rPr>
              <a:t>Our Mission</a:t>
            </a:r>
          </a:p>
        </p:txBody>
      </p:sp>
      <p:sp>
        <p:nvSpPr>
          <p:cNvPr id="3" name="Content Placeholder 2">
            <a:extLst>
              <a:ext uri="{FF2B5EF4-FFF2-40B4-BE49-F238E27FC236}">
                <a16:creationId xmlns:a16="http://schemas.microsoft.com/office/drawing/2014/main" id="{39FFE690-1455-3B3B-7B28-C4520CBBDAC8}"/>
              </a:ext>
            </a:extLst>
          </p:cNvPr>
          <p:cNvSpPr>
            <a:spLocks noGrp="1"/>
          </p:cNvSpPr>
          <p:nvPr>
            <p:ph idx="1"/>
          </p:nvPr>
        </p:nvSpPr>
        <p:spPr/>
        <p:txBody>
          <a:bodyPr>
            <a:normAutofit/>
          </a:bodyPr>
          <a:lstStyle/>
          <a:p>
            <a:pPr>
              <a:lnSpc>
                <a:spcPct val="150000"/>
              </a:lnSpc>
            </a:pPr>
            <a:r>
              <a:rPr lang="en-US" sz="2800" spc="60" dirty="0">
                <a:solidFill>
                  <a:srgbClr val="000000"/>
                </a:solidFill>
                <a:effectLst/>
                <a:latin typeface="Times New Roman" panose="02020603050405020304" pitchFamily="18" charset="0"/>
                <a:ea typeface="Calibri" panose="020F0502020204030204" pitchFamily="34" charset="0"/>
              </a:rPr>
              <a:t>"Your trusted and proven partner for innovative and exciting communication experiences delivered with passion, quality and commitment"</a:t>
            </a:r>
            <a:endParaRPr lang="en-US" sz="3200" dirty="0"/>
          </a:p>
        </p:txBody>
      </p:sp>
    </p:spTree>
    <p:extLst>
      <p:ext uri="{BB962C8B-B14F-4D97-AF65-F5344CB8AC3E}">
        <p14:creationId xmlns:p14="http://schemas.microsoft.com/office/powerpoint/2010/main" val="21840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B3A31-5FB1-21D0-34B2-0BB8A1D6501C}"/>
              </a:ext>
            </a:extLst>
          </p:cNvPr>
          <p:cNvSpPr>
            <a:spLocks noGrp="1"/>
          </p:cNvSpPr>
          <p:nvPr>
            <p:ph type="title"/>
          </p:nvPr>
        </p:nvSpPr>
        <p:spPr>
          <a:xfrm>
            <a:off x="1097280" y="286604"/>
            <a:ext cx="10058400" cy="1147750"/>
          </a:xfrm>
        </p:spPr>
        <p:txBody>
          <a:bodyPr/>
          <a:lstStyle/>
          <a:p>
            <a:r>
              <a:rPr lang="en-US" b="1" dirty="0">
                <a:solidFill>
                  <a:schemeClr val="accent1"/>
                </a:solidFill>
                <a:latin typeface="+mn-lt"/>
              </a:rPr>
              <a:t>Our Vision</a:t>
            </a:r>
          </a:p>
        </p:txBody>
      </p:sp>
      <p:sp>
        <p:nvSpPr>
          <p:cNvPr id="3" name="Content Placeholder 2">
            <a:extLst>
              <a:ext uri="{FF2B5EF4-FFF2-40B4-BE49-F238E27FC236}">
                <a16:creationId xmlns:a16="http://schemas.microsoft.com/office/drawing/2014/main" id="{0B2121B3-9C3D-8AD2-B658-8D47A86D431A}"/>
              </a:ext>
            </a:extLst>
          </p:cNvPr>
          <p:cNvSpPr>
            <a:spLocks noGrp="1"/>
          </p:cNvSpPr>
          <p:nvPr>
            <p:ph idx="1"/>
          </p:nvPr>
        </p:nvSpPr>
        <p:spPr/>
        <p:txBody>
          <a:bodyPr/>
          <a:lstStyle/>
          <a:p>
            <a:pPr>
              <a:lnSpc>
                <a:spcPct val="150000"/>
              </a:lnSpc>
            </a:pPr>
            <a:r>
              <a:rPr lang="en-US" sz="2800" spc="60" dirty="0">
                <a:solidFill>
                  <a:srgbClr val="000000"/>
                </a:solidFill>
                <a:effectLst/>
                <a:latin typeface="Times New Roman" panose="02020603050405020304" pitchFamily="18" charset="0"/>
                <a:ea typeface="Calibri" panose="020F0502020204030204" pitchFamily="34" charset="0"/>
                <a:cs typeface="Vijaya" panose="02020604020202020204" pitchFamily="18" charset="0"/>
              </a:rPr>
              <a:t>"All Sri Lankans seamlessly connected with world-class information, communication and entertainment services."</a:t>
            </a:r>
            <a:endParaRPr lang="en-US" sz="2800" dirty="0">
              <a:effectLst/>
              <a:latin typeface="Calibri" panose="020F0502020204030204" pitchFamily="34" charset="0"/>
              <a:ea typeface="Calibri" panose="020F0502020204030204" pitchFamily="34" charset="0"/>
              <a:cs typeface="Vijaya" panose="02020604020202020204" pitchFamily="18" charset="0"/>
            </a:endParaRPr>
          </a:p>
          <a:p>
            <a:endParaRPr lang="en-US" dirty="0"/>
          </a:p>
        </p:txBody>
      </p:sp>
    </p:spTree>
    <p:extLst>
      <p:ext uri="{BB962C8B-B14F-4D97-AF65-F5344CB8AC3E}">
        <p14:creationId xmlns:p14="http://schemas.microsoft.com/office/powerpoint/2010/main" val="3074904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BF17B-47B0-2110-0DFD-5C6E7CCD0DBC}"/>
              </a:ext>
            </a:extLst>
          </p:cNvPr>
          <p:cNvSpPr>
            <a:spLocks noGrp="1"/>
          </p:cNvSpPr>
          <p:nvPr>
            <p:ph type="title"/>
          </p:nvPr>
        </p:nvSpPr>
        <p:spPr>
          <a:xfrm>
            <a:off x="1097280" y="286604"/>
            <a:ext cx="10058400" cy="1201538"/>
          </a:xfrm>
        </p:spPr>
        <p:txBody>
          <a:bodyPr/>
          <a:lstStyle/>
          <a:p>
            <a:r>
              <a:rPr lang="en-US" b="1" dirty="0">
                <a:solidFill>
                  <a:schemeClr val="accent1"/>
                </a:solidFill>
                <a:latin typeface="+mn-lt"/>
              </a:rPr>
              <a:t>Our Goal</a:t>
            </a:r>
          </a:p>
        </p:txBody>
      </p:sp>
      <p:sp>
        <p:nvSpPr>
          <p:cNvPr id="3" name="Content Placeholder 2">
            <a:extLst>
              <a:ext uri="{FF2B5EF4-FFF2-40B4-BE49-F238E27FC236}">
                <a16:creationId xmlns:a16="http://schemas.microsoft.com/office/drawing/2014/main" id="{F2B8A4BA-3E02-97EC-4101-8126EB82252C}"/>
              </a:ext>
            </a:extLst>
          </p:cNvPr>
          <p:cNvSpPr>
            <a:spLocks noGrp="1"/>
          </p:cNvSpPr>
          <p:nvPr>
            <p:ph idx="1"/>
          </p:nvPr>
        </p:nvSpPr>
        <p:spPr/>
        <p:txBody>
          <a:bodyPr/>
          <a:lstStyle/>
          <a:p>
            <a:pPr>
              <a:lnSpc>
                <a:spcPct val="150000"/>
              </a:lnSpc>
            </a:pPr>
            <a:r>
              <a:rPr lang="en-US" sz="2400" spc="60" dirty="0">
                <a:solidFill>
                  <a:srgbClr val="333333"/>
                </a:solidFill>
                <a:effectLst/>
                <a:latin typeface="Times New Roman" panose="02020603050405020304" pitchFamily="18" charset="0"/>
                <a:ea typeface="Calibri" panose="020F0502020204030204" pitchFamily="34" charset="0"/>
                <a:cs typeface="Vijaya" panose="02020604020202020204" pitchFamily="18" charset="0"/>
              </a:rPr>
              <a:t>“Covering the entire island, the SLT Group serves a customer base of over nine million customers across fixed and mobile ICT services. The wide range of customers include domestic users, small and medium enterprises (SMEs), retail customers, multinationals and enterprises, public sector institutions, and other operators and wholesale customers. The extensive fiber optic network, with broadband speeds of up to 1 Gbps, extends nearly 60,000 km across the Nation.”</a:t>
            </a:r>
            <a:endParaRPr lang="en-US" sz="2400" dirty="0">
              <a:effectLst/>
              <a:latin typeface="Calibri" panose="020F0502020204030204" pitchFamily="34" charset="0"/>
              <a:ea typeface="Calibri" panose="020F0502020204030204" pitchFamily="34" charset="0"/>
              <a:cs typeface="Vijaya" panose="02020604020202020204" pitchFamily="18" charset="0"/>
            </a:endParaRPr>
          </a:p>
          <a:p>
            <a:endParaRPr lang="en-US" dirty="0"/>
          </a:p>
        </p:txBody>
      </p:sp>
    </p:spTree>
    <p:extLst>
      <p:ext uri="{BB962C8B-B14F-4D97-AF65-F5344CB8AC3E}">
        <p14:creationId xmlns:p14="http://schemas.microsoft.com/office/powerpoint/2010/main" val="3033804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DD9F3-0509-4BCD-17B6-935F161B9A65}"/>
              </a:ext>
            </a:extLst>
          </p:cNvPr>
          <p:cNvSpPr>
            <a:spLocks noGrp="1"/>
          </p:cNvSpPr>
          <p:nvPr>
            <p:ph type="title"/>
          </p:nvPr>
        </p:nvSpPr>
        <p:spPr/>
        <p:txBody>
          <a:bodyPr/>
          <a:lstStyle/>
          <a:p>
            <a:r>
              <a:rPr lang="en-US" b="1" dirty="0">
                <a:solidFill>
                  <a:schemeClr val="accent1"/>
                </a:solidFill>
                <a:latin typeface="+mn-lt"/>
              </a:rPr>
              <a:t>Performance Overview</a:t>
            </a:r>
          </a:p>
        </p:txBody>
      </p:sp>
      <p:sp>
        <p:nvSpPr>
          <p:cNvPr id="3" name="Content Placeholder 2">
            <a:extLst>
              <a:ext uri="{FF2B5EF4-FFF2-40B4-BE49-F238E27FC236}">
                <a16:creationId xmlns:a16="http://schemas.microsoft.com/office/drawing/2014/main" id="{F127F6AD-628F-3D2D-8886-7025A0D25753}"/>
              </a:ext>
            </a:extLst>
          </p:cNvPr>
          <p:cNvSpPr>
            <a:spLocks noGrp="1"/>
          </p:cNvSpPr>
          <p:nvPr>
            <p:ph idx="1"/>
          </p:nvPr>
        </p:nvSpPr>
        <p:spPr/>
        <p:txBody>
          <a:bodyPr>
            <a:normAutofit/>
          </a:bodyPr>
          <a:lstStyle/>
          <a:p>
            <a:pPr marL="0" indent="0">
              <a:lnSpc>
                <a:spcPct val="150000"/>
              </a:lnSpc>
              <a:buNone/>
            </a:pPr>
            <a:r>
              <a:rPr lang="en-US" sz="2800" b="1" dirty="0"/>
              <a:t> Over 65,000 km </a:t>
            </a:r>
            <a:r>
              <a:rPr lang="en-US" sz="2800" dirty="0"/>
              <a:t>Fiber Network</a:t>
            </a:r>
          </a:p>
          <a:p>
            <a:pPr>
              <a:lnSpc>
                <a:spcPct val="150000"/>
              </a:lnSpc>
            </a:pPr>
            <a:r>
              <a:rPr lang="en-US" sz="2800" b="1" dirty="0"/>
              <a:t>9.3 million </a:t>
            </a:r>
            <a:r>
              <a:rPr lang="en-US" sz="2800" dirty="0"/>
              <a:t>Subscribers</a:t>
            </a:r>
          </a:p>
          <a:p>
            <a:pPr>
              <a:lnSpc>
                <a:spcPct val="150000"/>
              </a:lnSpc>
            </a:pPr>
            <a:r>
              <a:rPr lang="en-US" sz="2800" b="1" dirty="0"/>
              <a:t>LKR 4.8 Bn. </a:t>
            </a:r>
            <a:r>
              <a:rPr lang="en-US" sz="2800" dirty="0"/>
              <a:t>Group Profits</a:t>
            </a:r>
          </a:p>
          <a:p>
            <a:pPr>
              <a:lnSpc>
                <a:spcPct val="150000"/>
              </a:lnSpc>
            </a:pPr>
            <a:r>
              <a:rPr lang="en-US" sz="2800" b="1" dirty="0"/>
              <a:t>LKR 107.7 Bn. </a:t>
            </a:r>
            <a:r>
              <a:rPr lang="en-US" sz="2800" dirty="0"/>
              <a:t>Group Revenue</a:t>
            </a:r>
          </a:p>
          <a:p>
            <a:pPr>
              <a:lnSpc>
                <a:spcPct val="150000"/>
              </a:lnSpc>
            </a:pPr>
            <a:r>
              <a:rPr lang="en-US" sz="2800" b="1" dirty="0"/>
              <a:t>LKR 240.6 Bn. </a:t>
            </a:r>
            <a:r>
              <a:rPr lang="en-US" sz="2800" dirty="0"/>
              <a:t>Total Assets</a:t>
            </a:r>
          </a:p>
        </p:txBody>
      </p:sp>
    </p:spTree>
    <p:extLst>
      <p:ext uri="{BB962C8B-B14F-4D97-AF65-F5344CB8AC3E}">
        <p14:creationId xmlns:p14="http://schemas.microsoft.com/office/powerpoint/2010/main" val="806309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3C78AC-BDBC-FB50-C07B-E07874247EC2}"/>
              </a:ext>
            </a:extLst>
          </p:cNvPr>
          <p:cNvSpPr>
            <a:spLocks noGrp="1"/>
          </p:cNvSpPr>
          <p:nvPr>
            <p:ph type="title"/>
          </p:nvPr>
        </p:nvSpPr>
        <p:spPr>
          <a:xfrm>
            <a:off x="1097280" y="286604"/>
            <a:ext cx="10058400" cy="1219468"/>
          </a:xfrm>
        </p:spPr>
        <p:txBody>
          <a:bodyPr/>
          <a:lstStyle/>
          <a:p>
            <a:r>
              <a:rPr lang="en-US" b="1" dirty="0">
                <a:solidFill>
                  <a:schemeClr val="accent1"/>
                </a:solidFill>
                <a:latin typeface="+mn-lt"/>
              </a:rPr>
              <a:t>Business Activities</a:t>
            </a:r>
          </a:p>
        </p:txBody>
      </p:sp>
      <p:sp>
        <p:nvSpPr>
          <p:cNvPr id="4" name="Content Placeholder 3">
            <a:extLst>
              <a:ext uri="{FF2B5EF4-FFF2-40B4-BE49-F238E27FC236}">
                <a16:creationId xmlns:a16="http://schemas.microsoft.com/office/drawing/2014/main" id="{07FCA305-BC9B-4203-145D-90F5D126665C}"/>
              </a:ext>
            </a:extLst>
          </p:cNvPr>
          <p:cNvSpPr>
            <a:spLocks noGrp="1"/>
          </p:cNvSpPr>
          <p:nvPr>
            <p:ph idx="1"/>
          </p:nvPr>
        </p:nvSpPr>
        <p:spPr>
          <a:xfrm>
            <a:off x="1097280" y="1845734"/>
            <a:ext cx="10332720" cy="4023360"/>
          </a:xfrm>
        </p:spPr>
        <p:txBody>
          <a:bodyPr numCol="2">
            <a:normAutofit fontScale="70000" lnSpcReduction="20000"/>
          </a:bodyPr>
          <a:lstStyle/>
          <a:p>
            <a:pPr marR="0" lvl="0" fontAlgn="base">
              <a:lnSpc>
                <a:spcPct val="107000"/>
              </a:lnSpc>
              <a:spcBef>
                <a:spcPts val="0"/>
              </a:spcBef>
              <a:spcAft>
                <a:spcPts val="375"/>
              </a:spcAft>
              <a:buSzPts val="1000"/>
              <a:buFont typeface="Arial" panose="020B0604020202020204" pitchFamily="34" charset="0"/>
              <a:buChar char="•"/>
              <a:tabLst>
                <a:tab pos="457200" algn="l"/>
              </a:tabLst>
            </a:pPr>
            <a:r>
              <a:rPr lang="en-US" sz="3100" b="1" i="0" dirty="0">
                <a:solidFill>
                  <a:srgbClr val="333333"/>
                </a:solidFill>
                <a:effectLst/>
              </a:rPr>
              <a:t>Principal lines of business</a:t>
            </a:r>
            <a:endParaRPr lang="en-US" sz="3100" spc="60" dirty="0">
              <a:solidFill>
                <a:srgbClr val="333333"/>
              </a:solidFill>
              <a:effectLst/>
              <a:ea typeface="Times New Roman" panose="02020603050405020304" pitchFamily="18" charset="0"/>
              <a:cs typeface="Vijaya" panose="02020604020202020204" pitchFamily="18" charset="0"/>
            </a:endParaRPr>
          </a:p>
          <a:p>
            <a:pPr lvl="2" fontAlgn="base">
              <a:lnSpc>
                <a:spcPct val="107000"/>
              </a:lnSpc>
              <a:spcBef>
                <a:spcPts val="0"/>
              </a:spcBef>
              <a:spcAft>
                <a:spcPts val="375"/>
              </a:spcAft>
              <a:buSzPts val="1000"/>
              <a:buFont typeface="Wingdings" panose="05000000000000000000" pitchFamily="2" charset="2"/>
              <a:buChar char="Ø"/>
              <a:tabLst>
                <a:tab pos="457200" algn="l"/>
              </a:tabLst>
            </a:pPr>
            <a:r>
              <a:rPr lang="en-US" sz="3100" spc="60" dirty="0">
                <a:solidFill>
                  <a:srgbClr val="333333"/>
                </a:solidFill>
                <a:effectLst/>
                <a:ea typeface="Times New Roman" panose="02020603050405020304" pitchFamily="18" charset="0"/>
                <a:cs typeface="Vijaya" panose="02020604020202020204" pitchFamily="18" charset="0"/>
              </a:rPr>
              <a:t>Fixed ICT operations</a:t>
            </a:r>
            <a:endParaRPr lang="en-US" sz="3100" dirty="0">
              <a:solidFill>
                <a:srgbClr val="333333"/>
              </a:solidFill>
              <a:effectLst/>
              <a:ea typeface="Calibri" panose="020F0502020204030204" pitchFamily="34" charset="0"/>
              <a:cs typeface="Vijaya" panose="02020604020202020204" pitchFamily="18" charset="0"/>
            </a:endParaRPr>
          </a:p>
          <a:p>
            <a:pPr lvl="2" fontAlgn="base">
              <a:lnSpc>
                <a:spcPct val="107000"/>
              </a:lnSpc>
              <a:spcBef>
                <a:spcPts val="0"/>
              </a:spcBef>
              <a:spcAft>
                <a:spcPts val="375"/>
              </a:spcAft>
              <a:buSzPts val="1000"/>
              <a:buFont typeface="Wingdings" panose="05000000000000000000" pitchFamily="2" charset="2"/>
              <a:buChar char="Ø"/>
              <a:tabLst>
                <a:tab pos="457200" algn="l"/>
              </a:tabLst>
            </a:pPr>
            <a:r>
              <a:rPr lang="en-US" sz="3100" spc="60" dirty="0">
                <a:solidFill>
                  <a:srgbClr val="333333"/>
                </a:solidFill>
                <a:effectLst/>
                <a:ea typeface="Times New Roman" panose="02020603050405020304" pitchFamily="18" charset="0"/>
                <a:cs typeface="Vijaya" panose="02020604020202020204" pitchFamily="18" charset="0"/>
              </a:rPr>
              <a:t>Mobile ICT operations</a:t>
            </a:r>
            <a:endParaRPr lang="en-US" sz="3100" dirty="0">
              <a:solidFill>
                <a:srgbClr val="333333"/>
              </a:solidFill>
              <a:effectLst/>
              <a:ea typeface="Calibri" panose="020F0502020204030204" pitchFamily="34" charset="0"/>
              <a:cs typeface="Vijaya" panose="02020604020202020204" pitchFamily="18" charset="0"/>
            </a:endParaRPr>
          </a:p>
          <a:p>
            <a:pPr lvl="2" fontAlgn="base">
              <a:lnSpc>
                <a:spcPct val="107000"/>
              </a:lnSpc>
              <a:spcBef>
                <a:spcPts val="0"/>
              </a:spcBef>
              <a:spcAft>
                <a:spcPts val="375"/>
              </a:spcAft>
              <a:buSzPts val="1000"/>
              <a:buFont typeface="Wingdings" panose="05000000000000000000" pitchFamily="2" charset="2"/>
              <a:buChar char="Ø"/>
              <a:tabLst>
                <a:tab pos="457200" algn="l"/>
              </a:tabLst>
            </a:pPr>
            <a:r>
              <a:rPr lang="en-US" sz="3100" spc="60" dirty="0">
                <a:solidFill>
                  <a:srgbClr val="333333"/>
                </a:solidFill>
                <a:effectLst/>
                <a:ea typeface="Times New Roman" panose="02020603050405020304" pitchFamily="18" charset="0"/>
                <a:cs typeface="Vijaya" panose="02020604020202020204" pitchFamily="18" charset="0"/>
              </a:rPr>
              <a:t>Other segment operations</a:t>
            </a:r>
            <a:endParaRPr lang="en-US" sz="3100" dirty="0">
              <a:solidFill>
                <a:srgbClr val="333333"/>
              </a:solidFill>
              <a:effectLst/>
              <a:ea typeface="Calibri" panose="020F0502020204030204" pitchFamily="34" charset="0"/>
              <a:cs typeface="Vijaya" panose="02020604020202020204" pitchFamily="18" charset="0"/>
            </a:endParaRPr>
          </a:p>
          <a:p>
            <a:pPr>
              <a:buFont typeface="Arial" panose="020B0604020202020204" pitchFamily="34" charset="0"/>
              <a:buChar char="•"/>
            </a:pPr>
            <a:endParaRPr lang="en-US" sz="2400" b="1" i="0" dirty="0">
              <a:solidFill>
                <a:srgbClr val="333333"/>
              </a:solidFill>
              <a:effectLst/>
            </a:endParaRPr>
          </a:p>
          <a:p>
            <a:pPr>
              <a:buFont typeface="Arial" panose="020B0604020202020204" pitchFamily="34" charset="0"/>
              <a:buChar char="•"/>
            </a:pPr>
            <a:endParaRPr lang="en-US" sz="2400" b="1" i="0" dirty="0">
              <a:solidFill>
                <a:srgbClr val="333333"/>
              </a:solidFill>
              <a:effectLst/>
            </a:endParaRPr>
          </a:p>
          <a:p>
            <a:pPr>
              <a:buFont typeface="Arial" panose="020B0604020202020204" pitchFamily="34" charset="0"/>
              <a:buChar char="•"/>
            </a:pPr>
            <a:endParaRPr lang="en-US" sz="2400" b="1" i="0" dirty="0">
              <a:solidFill>
                <a:srgbClr val="333333"/>
              </a:solidFill>
              <a:effectLst/>
            </a:endParaRPr>
          </a:p>
          <a:p>
            <a:pPr>
              <a:buFont typeface="Arial" panose="020B0604020202020204" pitchFamily="34" charset="0"/>
              <a:buChar char="•"/>
            </a:pPr>
            <a:endParaRPr lang="en-US" sz="2400" b="1" dirty="0">
              <a:solidFill>
                <a:srgbClr val="333333"/>
              </a:solidFill>
            </a:endParaRPr>
          </a:p>
          <a:p>
            <a:pPr>
              <a:buFont typeface="Arial" panose="020B0604020202020204" pitchFamily="34" charset="0"/>
              <a:buChar char="•"/>
            </a:pPr>
            <a:endParaRPr lang="en-US" sz="2400" b="1" i="0" dirty="0">
              <a:solidFill>
                <a:srgbClr val="333333"/>
              </a:solidFill>
              <a:effectLst/>
            </a:endParaRPr>
          </a:p>
          <a:p>
            <a:pPr>
              <a:buFont typeface="Arial" panose="020B0604020202020204" pitchFamily="34" charset="0"/>
              <a:buChar char="•"/>
            </a:pPr>
            <a:endParaRPr lang="en-US" sz="2400" b="1" i="0" dirty="0">
              <a:solidFill>
                <a:srgbClr val="333333"/>
              </a:solidFill>
              <a:effectLst/>
            </a:endParaRPr>
          </a:p>
          <a:p>
            <a:pPr marL="0" indent="0">
              <a:buNone/>
            </a:pPr>
            <a:endParaRPr lang="en-US" sz="2400" b="1" i="0" dirty="0">
              <a:solidFill>
                <a:srgbClr val="333333"/>
              </a:solidFill>
              <a:effectLst/>
            </a:endParaRPr>
          </a:p>
          <a:p>
            <a:pPr>
              <a:buFont typeface="Arial" panose="020B0604020202020204" pitchFamily="34" charset="0"/>
              <a:buChar char="•"/>
            </a:pPr>
            <a:r>
              <a:rPr lang="en-US" sz="2600" b="1" i="0" dirty="0">
                <a:solidFill>
                  <a:srgbClr val="333333"/>
                </a:solidFill>
                <a:effectLst/>
              </a:rPr>
              <a:t>Secondary lines of business</a:t>
            </a:r>
            <a:endParaRPr lang="en-US" sz="2600" dirty="0"/>
          </a:p>
          <a:p>
            <a:pPr algn="l" fontAlgn="base">
              <a:buFont typeface="Arial" panose="020B0604020202020204" pitchFamily="34" charset="0"/>
              <a:buChar char="•"/>
            </a:pPr>
            <a:r>
              <a:rPr lang="en-US" sz="2600" b="0" i="0" dirty="0">
                <a:solidFill>
                  <a:srgbClr val="333333"/>
                </a:solidFill>
                <a:effectLst/>
                <a:latin typeface="inherit"/>
              </a:rPr>
              <a:t>IPTV services and content creation facilities</a:t>
            </a:r>
          </a:p>
          <a:p>
            <a:pPr algn="l" fontAlgn="base">
              <a:buFont typeface="Arial" panose="020B0604020202020204" pitchFamily="34" charset="0"/>
              <a:buChar char="•"/>
            </a:pPr>
            <a:r>
              <a:rPr lang="en-US" sz="2600" b="0" i="0" dirty="0">
                <a:solidFill>
                  <a:srgbClr val="333333"/>
                </a:solidFill>
                <a:effectLst/>
                <a:latin typeface="inherit"/>
              </a:rPr>
              <a:t>Human Resources solutions</a:t>
            </a:r>
          </a:p>
          <a:p>
            <a:pPr algn="l" fontAlgn="base">
              <a:buFont typeface="Arial" panose="020B0604020202020204" pitchFamily="34" charset="0"/>
              <a:buChar char="•"/>
            </a:pPr>
            <a:r>
              <a:rPr lang="en-US" sz="2600" b="0" i="0" dirty="0">
                <a:solidFill>
                  <a:srgbClr val="333333"/>
                </a:solidFill>
                <a:effectLst/>
                <a:latin typeface="inherit"/>
              </a:rPr>
              <a:t>ICT infrastructure and system integrator solutions</a:t>
            </a:r>
          </a:p>
          <a:p>
            <a:pPr algn="l" fontAlgn="base">
              <a:buFont typeface="Arial" panose="020B0604020202020204" pitchFamily="34" charset="0"/>
              <a:buChar char="•"/>
            </a:pPr>
            <a:r>
              <a:rPr lang="en-US" sz="2600" b="0" i="0" dirty="0">
                <a:solidFill>
                  <a:srgbClr val="333333"/>
                </a:solidFill>
                <a:effectLst/>
                <a:latin typeface="inherit"/>
              </a:rPr>
              <a:t>Directory services</a:t>
            </a:r>
          </a:p>
          <a:p>
            <a:pPr algn="l" fontAlgn="base">
              <a:buFont typeface="Arial" panose="020B0604020202020204" pitchFamily="34" charset="0"/>
              <a:buChar char="•"/>
            </a:pPr>
            <a:r>
              <a:rPr lang="en-US" sz="2600" b="0" i="0" dirty="0">
                <a:solidFill>
                  <a:srgbClr val="333333"/>
                </a:solidFill>
                <a:effectLst/>
                <a:latin typeface="inherit"/>
              </a:rPr>
              <a:t>Digital marketing solutions</a:t>
            </a:r>
          </a:p>
          <a:p>
            <a:pPr algn="l" fontAlgn="base">
              <a:buFont typeface="Arial" panose="020B0604020202020204" pitchFamily="34" charset="0"/>
              <a:buChar char="•"/>
            </a:pPr>
            <a:r>
              <a:rPr lang="en-US" sz="2600" b="0" i="0" dirty="0">
                <a:solidFill>
                  <a:srgbClr val="333333"/>
                </a:solidFill>
                <a:effectLst/>
                <a:latin typeface="inherit"/>
              </a:rPr>
              <a:t>Tertiary educational services</a:t>
            </a:r>
          </a:p>
          <a:p>
            <a:pPr algn="l" fontAlgn="base">
              <a:buFont typeface="Arial" panose="020B0604020202020204" pitchFamily="34" charset="0"/>
              <a:buChar char="•"/>
            </a:pPr>
            <a:r>
              <a:rPr lang="en-US" sz="2600" b="0" i="0" dirty="0">
                <a:solidFill>
                  <a:srgbClr val="333333"/>
                </a:solidFill>
                <a:effectLst/>
                <a:latin typeface="inherit"/>
              </a:rPr>
              <a:t>Healthcare channeling platform</a:t>
            </a:r>
          </a:p>
          <a:p>
            <a:pPr algn="l" fontAlgn="base">
              <a:buFont typeface="Arial" panose="020B0604020202020204" pitchFamily="34" charset="0"/>
              <a:buChar char="•"/>
            </a:pPr>
            <a:r>
              <a:rPr lang="en-US" sz="2600" b="0" i="0" dirty="0">
                <a:solidFill>
                  <a:srgbClr val="333333"/>
                </a:solidFill>
                <a:effectLst/>
                <a:latin typeface="inherit"/>
              </a:rPr>
              <a:t>Submarine cable maintenance</a:t>
            </a:r>
          </a:p>
          <a:p>
            <a:pPr algn="l" fontAlgn="base">
              <a:buFont typeface="Arial" panose="020B0604020202020204" pitchFamily="34" charset="0"/>
              <a:buChar char="•"/>
            </a:pPr>
            <a:r>
              <a:rPr lang="en-US" sz="2600" b="0" i="0" dirty="0">
                <a:solidFill>
                  <a:srgbClr val="333333"/>
                </a:solidFill>
                <a:effectLst/>
                <a:latin typeface="inherit"/>
              </a:rPr>
              <a:t>Software solutions</a:t>
            </a:r>
          </a:p>
          <a:p>
            <a:pPr marL="0" indent="0">
              <a:buNone/>
            </a:pPr>
            <a:endParaRPr lang="en-US" dirty="0"/>
          </a:p>
        </p:txBody>
      </p:sp>
    </p:spTree>
    <p:extLst>
      <p:ext uri="{BB962C8B-B14F-4D97-AF65-F5344CB8AC3E}">
        <p14:creationId xmlns:p14="http://schemas.microsoft.com/office/powerpoint/2010/main" val="3566865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1300-E012-5171-6896-BAE40ABC1360}"/>
              </a:ext>
            </a:extLst>
          </p:cNvPr>
          <p:cNvSpPr>
            <a:spLocks noGrp="1"/>
          </p:cNvSpPr>
          <p:nvPr>
            <p:ph type="title"/>
          </p:nvPr>
        </p:nvSpPr>
        <p:spPr/>
        <p:txBody>
          <a:bodyPr>
            <a:normAutofit/>
          </a:bodyPr>
          <a:lstStyle/>
          <a:p>
            <a:r>
              <a:rPr lang="en-US" b="1" dirty="0">
                <a:solidFill>
                  <a:schemeClr val="accent1"/>
                </a:solidFill>
                <a:latin typeface="+mn-lt"/>
              </a:rPr>
              <a:t>Our Values</a:t>
            </a:r>
          </a:p>
        </p:txBody>
      </p:sp>
      <p:sp>
        <p:nvSpPr>
          <p:cNvPr id="3" name="Content Placeholder 2">
            <a:extLst>
              <a:ext uri="{FF2B5EF4-FFF2-40B4-BE49-F238E27FC236}">
                <a16:creationId xmlns:a16="http://schemas.microsoft.com/office/drawing/2014/main" id="{E6582232-1BD4-EFD6-27EE-40070F71D548}"/>
              </a:ext>
            </a:extLst>
          </p:cNvPr>
          <p:cNvSpPr>
            <a:spLocks noGrp="1"/>
          </p:cNvSpPr>
          <p:nvPr>
            <p:ph idx="1"/>
          </p:nvPr>
        </p:nvSpPr>
        <p:spPr/>
        <p:txBody>
          <a:bodyPr numCol="2" spcCol="457200">
            <a:normAutofit fontScale="25000" lnSpcReduction="20000"/>
          </a:bodyPr>
          <a:lstStyle/>
          <a:p>
            <a:pPr>
              <a:buFont typeface="Arial" panose="020B0604020202020204" pitchFamily="34" charset="0"/>
              <a:buChar char="•"/>
            </a:pPr>
            <a:endParaRPr lang="en-US" dirty="0"/>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ffectLst/>
                <a:ea typeface="Times New Roman" panose="02020603050405020304" pitchFamily="18" charset="0"/>
                <a:cs typeface="Latha" panose="020B0604020202020204" pitchFamily="34" charset="0"/>
              </a:rPr>
              <a:t>1. Customer Caring</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Vijaya" panose="02020604020202020204" pitchFamily="18" charset="0"/>
              </a:rPr>
              <a:t>“We put our customers at the central of everything we do”</a:t>
            </a:r>
            <a:endParaRPr lang="en-US" sz="7100" dirty="0">
              <a:effectLst/>
              <a:ea typeface="Calibri" panose="020F0502020204030204" pitchFamily="34" charset="0"/>
              <a:cs typeface="Vijaya" panose="02020604020202020204" pitchFamily="18" charset="0"/>
            </a:endParaRPr>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a typeface="Times New Roman" panose="02020603050405020304" pitchFamily="18" charset="0"/>
                <a:cs typeface="Latha" panose="020B0604020202020204" pitchFamily="34" charset="0"/>
              </a:rPr>
              <a:t>2. </a:t>
            </a:r>
            <a:r>
              <a:rPr lang="en-US" sz="7100" b="1" spc="60" dirty="0">
                <a:solidFill>
                  <a:srgbClr val="000000"/>
                </a:solidFill>
                <a:effectLst/>
                <a:ea typeface="Times New Roman" panose="02020603050405020304" pitchFamily="18" charset="0"/>
                <a:cs typeface="Latha" panose="020B0604020202020204" pitchFamily="34" charset="0"/>
              </a:rPr>
              <a:t>Trustworthy</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Times New Roman" panose="02020603050405020304" pitchFamily="18" charset="0"/>
              </a:rPr>
              <a:t>“We are true to our promises”</a:t>
            </a:r>
            <a:endParaRPr lang="en-US" sz="7100" dirty="0">
              <a:effectLst/>
              <a:ea typeface="Calibri" panose="020F0502020204030204" pitchFamily="34" charset="0"/>
              <a:cs typeface="Vijaya" panose="02020604020202020204" pitchFamily="18" charset="0"/>
            </a:endParaRPr>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ffectLst/>
                <a:ea typeface="Times New Roman" panose="02020603050405020304" pitchFamily="18" charset="0"/>
                <a:cs typeface="Latha" panose="020B0604020202020204" pitchFamily="34" charset="0"/>
              </a:rPr>
              <a:t>3. Innovative</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Times New Roman" panose="02020603050405020304" pitchFamily="18" charset="0"/>
              </a:rPr>
              <a:t>“We continuously invent new opportunities through creative thinking”</a:t>
            </a:r>
            <a:endParaRPr lang="en-US" sz="7100" dirty="0">
              <a:effectLst/>
              <a:ea typeface="Calibri" panose="020F0502020204030204" pitchFamily="34" charset="0"/>
              <a:cs typeface="Vijaya" panose="02020604020202020204" pitchFamily="18" charset="0"/>
            </a:endParaRPr>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ffectLst/>
                <a:ea typeface="Times New Roman" panose="02020603050405020304" pitchFamily="18" charset="0"/>
                <a:cs typeface="Latha" panose="020B0604020202020204" pitchFamily="34" charset="0"/>
              </a:rPr>
              <a:t>4. Responsive</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Times New Roman" panose="02020603050405020304" pitchFamily="18" charset="0"/>
              </a:rPr>
              <a:t>“We are ready to listen and act promptly”</a:t>
            </a:r>
            <a:endParaRPr lang="en-US" sz="7100" dirty="0">
              <a:effectLst/>
              <a:ea typeface="Calibri" panose="020F0502020204030204" pitchFamily="34" charset="0"/>
              <a:cs typeface="Vijaya" panose="02020604020202020204" pitchFamily="18" charset="0"/>
            </a:endParaRPr>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a typeface="Times New Roman" panose="02020603050405020304" pitchFamily="18" charset="0"/>
                <a:cs typeface="Latha" panose="020B0604020202020204" pitchFamily="34" charset="0"/>
              </a:rPr>
              <a:t>5. </a:t>
            </a:r>
            <a:r>
              <a:rPr lang="en-US" sz="7100" b="1" spc="60" dirty="0">
                <a:solidFill>
                  <a:srgbClr val="000000"/>
                </a:solidFill>
                <a:effectLst/>
                <a:ea typeface="Times New Roman" panose="02020603050405020304" pitchFamily="18" charset="0"/>
                <a:cs typeface="Latha" panose="020B0604020202020204" pitchFamily="34" charset="0"/>
              </a:rPr>
              <a:t>Teamwork</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Times New Roman" panose="02020603050405020304" pitchFamily="18" charset="0"/>
              </a:rPr>
              <a:t>“We are one team with a common purpose to achieve common goals”</a:t>
            </a:r>
            <a:endParaRPr lang="en-US" sz="7100" dirty="0">
              <a:effectLst/>
              <a:ea typeface="Calibri" panose="020F0502020204030204" pitchFamily="34" charset="0"/>
              <a:cs typeface="Vijaya" panose="02020604020202020204" pitchFamily="18" charset="0"/>
            </a:endParaRPr>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ffectLst/>
                <a:ea typeface="Times New Roman" panose="02020603050405020304" pitchFamily="18" charset="0"/>
                <a:cs typeface="Latha" panose="020B0604020202020204" pitchFamily="34" charset="0"/>
              </a:rPr>
              <a:t>6. Excellence</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Times New Roman" panose="02020603050405020304" pitchFamily="18" charset="0"/>
              </a:rPr>
              <a:t>“We are committed to exceptional performance”</a:t>
            </a:r>
            <a:endParaRPr lang="en-US" sz="7100" dirty="0">
              <a:effectLst/>
              <a:ea typeface="Calibri" panose="020F0502020204030204" pitchFamily="34" charset="0"/>
              <a:cs typeface="Vijaya" panose="02020604020202020204" pitchFamily="18" charset="0"/>
            </a:endParaRPr>
          </a:p>
          <a:p>
            <a:pPr marL="0" marR="0" lvl="0" indent="0" fontAlgn="base">
              <a:lnSpc>
                <a:spcPct val="150000"/>
              </a:lnSpc>
              <a:spcBef>
                <a:spcPts val="0"/>
              </a:spcBef>
              <a:spcAft>
                <a:spcPts val="0"/>
              </a:spcAft>
              <a:buClr>
                <a:srgbClr val="000000"/>
              </a:buClr>
              <a:buNone/>
              <a:tabLst>
                <a:tab pos="457200" algn="l"/>
              </a:tabLst>
            </a:pPr>
            <a:r>
              <a:rPr lang="en-US" sz="7100" b="1" spc="60" dirty="0">
                <a:solidFill>
                  <a:srgbClr val="000000"/>
                </a:solidFill>
                <a:effectLst/>
                <a:ea typeface="Times New Roman" panose="02020603050405020304" pitchFamily="18" charset="0"/>
                <a:cs typeface="Latha" panose="020B0604020202020204" pitchFamily="34" charset="0"/>
              </a:rPr>
              <a:t>7. Results Driven</a:t>
            </a:r>
            <a:endParaRPr lang="en-US" sz="7100" b="1" dirty="0">
              <a:effectLst/>
              <a:ea typeface="Calibri" panose="020F0502020204030204" pitchFamily="34" charset="0"/>
              <a:cs typeface="Latha" panose="020B0604020202020204" pitchFamily="34" charset="0"/>
            </a:endParaRPr>
          </a:p>
          <a:p>
            <a:pPr marL="0" marR="0" fontAlgn="base">
              <a:lnSpc>
                <a:spcPct val="150000"/>
              </a:lnSpc>
              <a:spcBef>
                <a:spcPts val="0"/>
              </a:spcBef>
              <a:spcAft>
                <a:spcPts val="800"/>
              </a:spcAft>
            </a:pPr>
            <a:r>
              <a:rPr lang="en-US" sz="7100" spc="60" dirty="0">
                <a:solidFill>
                  <a:srgbClr val="000000"/>
                </a:solidFill>
                <a:effectLst/>
                <a:ea typeface="Times New Roman" panose="02020603050405020304" pitchFamily="18" charset="0"/>
                <a:cs typeface="Times New Roman" panose="02020603050405020304" pitchFamily="18" charset="0"/>
              </a:rPr>
              <a:t>“We are committed to enhancing shareholder value”</a:t>
            </a:r>
            <a:endParaRPr lang="en-US" sz="7100" dirty="0">
              <a:effectLst/>
              <a:ea typeface="Calibri" panose="020F0502020204030204" pitchFamily="34" charset="0"/>
              <a:cs typeface="Vijaya" panose="02020604020202020204" pitchFamily="18" charset="0"/>
            </a:endParaRPr>
          </a:p>
          <a:p>
            <a:pPr>
              <a:buFont typeface="Arial" panose="020B0604020202020204" pitchFamily="34" charset="0"/>
              <a:buChar char="•"/>
            </a:pPr>
            <a:endParaRPr lang="en-US" dirty="0"/>
          </a:p>
        </p:txBody>
      </p:sp>
    </p:spTree>
    <p:extLst>
      <p:ext uri="{BB962C8B-B14F-4D97-AF65-F5344CB8AC3E}">
        <p14:creationId xmlns:p14="http://schemas.microsoft.com/office/powerpoint/2010/main" val="216896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95C2B-9294-0191-1CED-02B238B33ADD}"/>
              </a:ext>
            </a:extLst>
          </p:cNvPr>
          <p:cNvSpPr>
            <a:spLocks noGrp="1"/>
          </p:cNvSpPr>
          <p:nvPr>
            <p:ph type="title"/>
          </p:nvPr>
        </p:nvSpPr>
        <p:spPr>
          <a:xfrm>
            <a:off x="1097280" y="286604"/>
            <a:ext cx="10058400" cy="1208822"/>
          </a:xfrm>
        </p:spPr>
        <p:txBody>
          <a:bodyPr/>
          <a:lstStyle/>
          <a:p>
            <a:r>
              <a:rPr lang="en-US" b="1" dirty="0">
                <a:solidFill>
                  <a:schemeClr val="accent1"/>
                </a:solidFill>
                <a:latin typeface="+mn-lt"/>
              </a:rPr>
              <a:t>Unifying </a:t>
            </a:r>
          </a:p>
        </p:txBody>
      </p:sp>
      <p:sp>
        <p:nvSpPr>
          <p:cNvPr id="3" name="Content Placeholder 2">
            <a:extLst>
              <a:ext uri="{FF2B5EF4-FFF2-40B4-BE49-F238E27FC236}">
                <a16:creationId xmlns:a16="http://schemas.microsoft.com/office/drawing/2014/main" id="{34D56564-9080-BBA8-9679-525EFD73602F}"/>
              </a:ext>
            </a:extLst>
          </p:cNvPr>
          <p:cNvSpPr>
            <a:spLocks noGrp="1"/>
          </p:cNvSpPr>
          <p:nvPr>
            <p:ph idx="1"/>
          </p:nvPr>
        </p:nvSpPr>
        <p:spPr>
          <a:xfrm>
            <a:off x="1097280" y="1845734"/>
            <a:ext cx="9123045" cy="4023360"/>
          </a:xfrm>
        </p:spPr>
        <p:txBody>
          <a:bodyPr/>
          <a:lstStyle/>
          <a:p>
            <a:pPr>
              <a:buFont typeface="Arial" panose="020B0604020202020204" pitchFamily="34" charset="0"/>
              <a:buChar char="•"/>
            </a:pPr>
            <a:endParaRPr lang="en-US" b="0" i="0" dirty="0">
              <a:solidFill>
                <a:srgbClr val="333333"/>
              </a:solidFill>
              <a:effectLst/>
              <a:latin typeface="Arial" panose="020B0604020202020204" pitchFamily="34" charset="0"/>
            </a:endParaRPr>
          </a:p>
          <a:p>
            <a:pPr>
              <a:buFont typeface="Arial" panose="020B0604020202020204" pitchFamily="34" charset="0"/>
              <a:buChar char="•"/>
            </a:pPr>
            <a:r>
              <a:rPr lang="en-US" sz="2400" b="0" i="0" dirty="0">
                <a:solidFill>
                  <a:srgbClr val="333333"/>
                </a:solidFill>
                <a:effectLst/>
                <a:latin typeface="Arial" panose="020B0604020202020204" pitchFamily="34" charset="0"/>
              </a:rPr>
              <a:t>SLT and SLT-</a:t>
            </a:r>
            <a:r>
              <a:rPr lang="en-US" sz="2400" b="0" i="0" dirty="0" err="1">
                <a:solidFill>
                  <a:srgbClr val="333333"/>
                </a:solidFill>
                <a:effectLst/>
                <a:latin typeface="Arial" panose="020B0604020202020204" pitchFamily="34" charset="0"/>
              </a:rPr>
              <a:t>Mobitel</a:t>
            </a:r>
            <a:r>
              <a:rPr lang="en-US" sz="2400" b="0" i="0" dirty="0">
                <a:solidFill>
                  <a:srgbClr val="333333"/>
                </a:solidFill>
                <a:effectLst/>
                <a:latin typeface="Arial" panose="020B0604020202020204" pitchFamily="34" charset="0"/>
              </a:rPr>
              <a:t> unveiled their unified brand identity on January 1, 2021. </a:t>
            </a:r>
          </a:p>
          <a:p>
            <a:pPr>
              <a:buFont typeface="Arial" panose="020B0604020202020204" pitchFamily="34" charset="0"/>
              <a:buChar char="•"/>
            </a:pPr>
            <a:r>
              <a:rPr lang="en-US" sz="2400" dirty="0">
                <a:solidFill>
                  <a:srgbClr val="333333"/>
                </a:solidFill>
                <a:latin typeface="Arial" panose="020B0604020202020204" pitchFamily="34" charset="0"/>
              </a:rPr>
              <a:t>B</a:t>
            </a:r>
            <a:r>
              <a:rPr lang="en-US" sz="2400" b="0" i="0" dirty="0">
                <a:solidFill>
                  <a:srgbClr val="333333"/>
                </a:solidFill>
                <a:effectLst/>
                <a:latin typeface="Arial" panose="020B0604020202020204" pitchFamily="34" charset="0"/>
              </a:rPr>
              <a:t>ut there was no integrated operational structure up till January 2023.</a:t>
            </a:r>
          </a:p>
          <a:p>
            <a:pPr>
              <a:buFont typeface="Arial" panose="020B0604020202020204" pitchFamily="34" charset="0"/>
              <a:buChar char="•"/>
            </a:pPr>
            <a:endParaRPr lang="en-US" dirty="0"/>
          </a:p>
        </p:txBody>
      </p:sp>
      <p:sp>
        <p:nvSpPr>
          <p:cNvPr id="11" name="Callout: Right Arrow 10">
            <a:extLst>
              <a:ext uri="{FF2B5EF4-FFF2-40B4-BE49-F238E27FC236}">
                <a16:creationId xmlns:a16="http://schemas.microsoft.com/office/drawing/2014/main" id="{3ABCEF5F-8B73-EDC6-0808-98289EAE6D4F}"/>
              </a:ext>
            </a:extLst>
          </p:cNvPr>
          <p:cNvSpPr/>
          <p:nvPr/>
        </p:nvSpPr>
        <p:spPr>
          <a:xfrm>
            <a:off x="2537223" y="3857414"/>
            <a:ext cx="4019127" cy="2456266"/>
          </a:xfrm>
          <a:prstGeom prst="rightArrow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198CA65-9D7C-2248-C3C7-485AE4BDE4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300" y="3934794"/>
            <a:ext cx="1144542" cy="950708"/>
          </a:xfrm>
          <a:prstGeom prst="rect">
            <a:avLst/>
          </a:prstGeom>
        </p:spPr>
      </p:pic>
      <p:pic>
        <p:nvPicPr>
          <p:cNvPr id="9" name="Picture 8">
            <a:extLst>
              <a:ext uri="{FF2B5EF4-FFF2-40B4-BE49-F238E27FC236}">
                <a16:creationId xmlns:a16="http://schemas.microsoft.com/office/drawing/2014/main" id="{22BBDC29-DB88-4897-BA50-3D1147D634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6739" y="5102050"/>
            <a:ext cx="1144542" cy="983591"/>
          </a:xfrm>
          <a:prstGeom prst="rect">
            <a:avLst/>
          </a:prstGeom>
        </p:spPr>
      </p:pic>
      <p:sp>
        <p:nvSpPr>
          <p:cNvPr id="12" name="Rectangle 11">
            <a:extLst>
              <a:ext uri="{FF2B5EF4-FFF2-40B4-BE49-F238E27FC236}">
                <a16:creationId xmlns:a16="http://schemas.microsoft.com/office/drawing/2014/main" id="{849218E0-094C-2E80-A1F0-40682B9F2522}"/>
              </a:ext>
            </a:extLst>
          </p:cNvPr>
          <p:cNvSpPr/>
          <p:nvPr/>
        </p:nvSpPr>
        <p:spPr>
          <a:xfrm>
            <a:off x="7060746" y="4356074"/>
            <a:ext cx="2124635" cy="14589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3EF8A1B-E885-FAEC-C098-8A29495298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7427" y="4497638"/>
            <a:ext cx="1814630" cy="1208823"/>
          </a:xfrm>
          <a:prstGeom prst="rect">
            <a:avLst/>
          </a:prstGeom>
        </p:spPr>
      </p:pic>
    </p:spTree>
    <p:extLst>
      <p:ext uri="{BB962C8B-B14F-4D97-AF65-F5344CB8AC3E}">
        <p14:creationId xmlns:p14="http://schemas.microsoft.com/office/powerpoint/2010/main" val="91602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t="1000" r="6000" b="-1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2A51A-BEA0-BB2E-7324-4224FAB5CD90}"/>
              </a:ext>
            </a:extLst>
          </p:cNvPr>
          <p:cNvSpPr>
            <a:spLocks noGrp="1"/>
          </p:cNvSpPr>
          <p:nvPr>
            <p:ph type="title"/>
          </p:nvPr>
        </p:nvSpPr>
        <p:spPr>
          <a:xfrm>
            <a:off x="1097280" y="286604"/>
            <a:ext cx="10058400" cy="1125102"/>
          </a:xfrm>
        </p:spPr>
        <p:txBody>
          <a:bodyPr/>
          <a:lstStyle/>
          <a:p>
            <a:pPr algn="ctr"/>
            <a:r>
              <a:rPr lang="en-US" b="1" dirty="0">
                <a:solidFill>
                  <a:srgbClr val="0070C0"/>
                </a:solidFill>
                <a:latin typeface="+mn-lt"/>
              </a:rPr>
              <a:t>SLT – </a:t>
            </a:r>
            <a:r>
              <a:rPr lang="en-US" b="1" dirty="0" err="1">
                <a:solidFill>
                  <a:srgbClr val="00B050"/>
                </a:solidFill>
                <a:latin typeface="+mn-lt"/>
              </a:rPr>
              <a:t>Mobitel</a:t>
            </a:r>
            <a:r>
              <a:rPr lang="en-US" b="1" dirty="0">
                <a:solidFill>
                  <a:srgbClr val="00B050"/>
                </a:solidFill>
                <a:latin typeface="+mn-lt"/>
              </a:rPr>
              <a:t> (2023)</a:t>
            </a:r>
          </a:p>
        </p:txBody>
      </p:sp>
    </p:spTree>
    <p:extLst>
      <p:ext uri="{BB962C8B-B14F-4D97-AF65-F5344CB8AC3E}">
        <p14:creationId xmlns:p14="http://schemas.microsoft.com/office/powerpoint/2010/main" val="2299739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D816-162A-A496-4D98-E459C1439E43}"/>
              </a:ext>
            </a:extLst>
          </p:cNvPr>
          <p:cNvSpPr>
            <a:spLocks noGrp="1"/>
          </p:cNvSpPr>
          <p:nvPr>
            <p:ph type="title"/>
          </p:nvPr>
        </p:nvSpPr>
        <p:spPr>
          <a:xfrm>
            <a:off x="1097280" y="286604"/>
            <a:ext cx="10058400" cy="1228432"/>
          </a:xfrm>
        </p:spPr>
        <p:txBody>
          <a:bodyPr/>
          <a:lstStyle/>
          <a:p>
            <a:r>
              <a:rPr lang="en-US" b="1" dirty="0">
                <a:solidFill>
                  <a:schemeClr val="accent1"/>
                </a:solidFill>
                <a:latin typeface="+mn-lt"/>
              </a:rPr>
              <a:t>Competitors</a:t>
            </a:r>
          </a:p>
        </p:txBody>
      </p:sp>
      <p:sp>
        <p:nvSpPr>
          <p:cNvPr id="3" name="Content Placeholder 2">
            <a:extLst>
              <a:ext uri="{FF2B5EF4-FFF2-40B4-BE49-F238E27FC236}">
                <a16:creationId xmlns:a16="http://schemas.microsoft.com/office/drawing/2014/main" id="{761EB28D-CE0F-C43D-4021-739F36CBC759}"/>
              </a:ext>
            </a:extLst>
          </p:cNvPr>
          <p:cNvSpPr>
            <a:spLocks noGrp="1"/>
          </p:cNvSpPr>
          <p:nvPr>
            <p:ph idx="1"/>
          </p:nvPr>
        </p:nvSpPr>
        <p:spPr/>
        <p:txBody>
          <a:bodyPr>
            <a:normAutofit/>
          </a:bodyPr>
          <a:lstStyle/>
          <a:p>
            <a:endParaRPr lang="en-US" sz="3600" dirty="0"/>
          </a:p>
          <a:p>
            <a:pPr>
              <a:buFont typeface="Wingdings" panose="05000000000000000000" pitchFamily="2" charset="2"/>
              <a:buChar char="v"/>
            </a:pPr>
            <a:r>
              <a:rPr lang="en-US" sz="3600" dirty="0"/>
              <a:t>Dialog</a:t>
            </a:r>
          </a:p>
          <a:p>
            <a:pPr>
              <a:buFont typeface="Wingdings" panose="05000000000000000000" pitchFamily="2" charset="2"/>
              <a:buChar char="v"/>
            </a:pPr>
            <a:r>
              <a:rPr lang="en-US" sz="3600" dirty="0"/>
              <a:t>Hutch</a:t>
            </a:r>
          </a:p>
          <a:p>
            <a:pPr>
              <a:buFont typeface="Wingdings" panose="05000000000000000000" pitchFamily="2" charset="2"/>
              <a:buChar char="v"/>
            </a:pPr>
            <a:r>
              <a:rPr lang="en-US" sz="3600" dirty="0"/>
              <a:t>Airtel</a:t>
            </a:r>
          </a:p>
          <a:p>
            <a:pPr>
              <a:buFont typeface="Wingdings" panose="05000000000000000000" pitchFamily="2" charset="2"/>
              <a:buChar char="v"/>
            </a:pPr>
            <a:r>
              <a:rPr lang="en-US" sz="3600" dirty="0"/>
              <a:t>Etisalat</a:t>
            </a:r>
          </a:p>
        </p:txBody>
      </p:sp>
    </p:spTree>
    <p:extLst>
      <p:ext uri="{BB962C8B-B14F-4D97-AF65-F5344CB8AC3E}">
        <p14:creationId xmlns:p14="http://schemas.microsoft.com/office/powerpoint/2010/main" val="2533636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37631A-8C54-2418-2DAE-649ED5ACDD75}"/>
              </a:ext>
            </a:extLst>
          </p:cNvPr>
          <p:cNvSpPr txBox="1"/>
          <p:nvPr/>
        </p:nvSpPr>
        <p:spPr>
          <a:xfrm>
            <a:off x="3845860" y="2321004"/>
            <a:ext cx="4276164" cy="1107996"/>
          </a:xfrm>
          <a:prstGeom prst="rect">
            <a:avLst/>
          </a:prstGeom>
          <a:noFill/>
        </p:spPr>
        <p:txBody>
          <a:bodyPr wrap="square" rtlCol="0">
            <a:spAutoFit/>
          </a:bodyPr>
          <a:lstStyle/>
          <a:p>
            <a:r>
              <a:rPr lang="en-US" sz="6600" b="1" dirty="0">
                <a:solidFill>
                  <a:schemeClr val="accent1"/>
                </a:solidFill>
              </a:rPr>
              <a:t>Thank You !</a:t>
            </a:r>
          </a:p>
        </p:txBody>
      </p:sp>
    </p:spTree>
    <p:extLst>
      <p:ext uri="{BB962C8B-B14F-4D97-AF65-F5344CB8AC3E}">
        <p14:creationId xmlns:p14="http://schemas.microsoft.com/office/powerpoint/2010/main" val="206546008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118</TotalTime>
  <Words>421</Words>
  <Application>Microsoft Office PowerPoint</Application>
  <PresentationFormat>Widescreen</PresentationFormat>
  <Paragraphs>72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inherit</vt:lpstr>
      <vt:lpstr>Times New Roman</vt:lpstr>
      <vt:lpstr>Wingdings</vt:lpstr>
      <vt:lpstr>Retrospect</vt:lpstr>
      <vt:lpstr>Final Project</vt:lpstr>
      <vt:lpstr> Sri Lanka Telecom</vt:lpstr>
      <vt:lpstr>SLT - Mobitel</vt:lpstr>
      <vt:lpstr>About SLT</vt:lpstr>
      <vt:lpstr>Our Mission</vt:lpstr>
      <vt:lpstr>Our Vision</vt:lpstr>
      <vt:lpstr>Our Goal</vt:lpstr>
      <vt:lpstr>Performance Overview</vt:lpstr>
      <vt:lpstr>Business Activities</vt:lpstr>
      <vt:lpstr>Our Values</vt:lpstr>
      <vt:lpstr>Unifying </vt:lpstr>
      <vt:lpstr>SLT – Mobitel (2023)</vt:lpstr>
      <vt:lpstr>Competitors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Thisal Himsara</dc:creator>
  <cp:lastModifiedBy>Thisal Himsara</cp:lastModifiedBy>
  <cp:revision>5</cp:revision>
  <dcterms:created xsi:type="dcterms:W3CDTF">2023-10-17T01:41:07Z</dcterms:created>
  <dcterms:modified xsi:type="dcterms:W3CDTF">2023-10-17T04:49:33Z</dcterms:modified>
</cp:coreProperties>
</file>